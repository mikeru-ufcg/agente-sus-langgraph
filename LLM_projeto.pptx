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9144000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Assistente Inteligente do SUS</a:t>
            </a:r>
            <a:endParaRPr/>
          </a:p>
        </p:txBody>
      </p:sp>
      <p:sp>
        <p:nvSpPr>
          <p:cNvPr id="13" name="Google Shape;13;p1"/>
          <p:cNvSpPr txBox="1"/>
          <p:nvPr>
            <p:ph idx="1" type="subTitle"/>
          </p:nvPr>
        </p:nvSpPr>
        <p:spPr>
          <a:xfrm>
            <a:off x="1371600" y="3886200"/>
            <a:ext cx="640080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n-US"/>
              <a:t>Sistema Agêntico com RAG e Automação (LangGraph + MCP)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n-US"/>
              <a:t>Aluno: Miguel Macedo Ferreira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n-US"/>
              <a:t>Universidade Federal de Campina Grande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n-US"/>
              <a:t>Disciplina: Modelos Largos de Linguagem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n-US"/>
              <a:t>Professor: Leandro Balby Marinho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Cidadãos têm dificuldade em acessar informações confiáveis do SUS rapidamente</a:t>
            </a:r>
          </a:p>
          <a:p>
            <a:r>
              <a:t>Manuais oficiais são extensos e pouco acessíveis</a:t>
            </a:r>
          </a:p>
          <a:p>
            <a:r>
              <a:t>Ausência de respostas contextualizadas</a:t>
            </a:r>
          </a:p>
          <a:p>
            <a:r>
              <a:t>Falta de automação para triagens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Público-Alvo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Cidadãos buscando orientação</a:t>
            </a:r>
          </a:p>
          <a:p>
            <a:r>
              <a:t>Usuários que precisam de respostas rápidas</a:t>
            </a:r>
          </a:p>
          <a:p>
            <a:r>
              <a:t>Unidades de saúde</a:t>
            </a:r>
          </a:p>
          <a:p>
            <a:r>
              <a:t>Sistemas de triagem automatizada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Arquitetura e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LangGraph + LangChain</a:t>
            </a:r>
          </a:p>
          <a:p>
            <a:r>
              <a:t>Gemini 3.1 Pro como supervisor</a:t>
            </a:r>
          </a:p>
          <a:p>
            <a:r>
              <a:t>Gemini 3 Flash para resposta</a:t>
            </a:r>
          </a:p>
          <a:p>
            <a:r>
              <a:t>FAISS + embeddings BAAI</a:t>
            </a:r>
          </a:p>
          <a:p>
            <a:r>
              <a:t>Streamlit UI + MCP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Fluxo de Agentes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Supervisor roteia intenção</a:t>
            </a:r>
          </a:p>
          <a:p>
            <a:r>
              <a:t>Retriever busca documentos</a:t>
            </a:r>
          </a:p>
          <a:p>
            <a:r>
              <a:t>Answerer gera resposta com fonte</a:t>
            </a:r>
          </a:p>
          <a:p>
            <a:r>
              <a:t>Self-check evita alucinação</a:t>
            </a:r>
          </a:p>
          <a:p>
            <a:r>
              <a:t>Automation Agent executa ações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Segurança MCP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Sandbox em ./dados_permitidos</a:t>
            </a:r>
          </a:p>
          <a:p>
            <a:r>
              <a:t>Allowlist restrita</a:t>
            </a:r>
          </a:p>
          <a:p>
            <a:r>
              <a:t>Logs em mcp_security.log</a:t>
            </a:r>
          </a:p>
          <a:p>
            <a:r>
              <a:t>Execução segura controlada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t>Execução no Terminal</a:t>
            </a:r>
          </a:p>
        </p:txBody>
      </p:sp>
      <p:pic>
        <p:nvPicPr>
          <p:cNvPr id="3" name="Picture 2" descr="ea5601d8-f996-479c-a56a-e9524120e07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945166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t>Interface Streamlit</a:t>
            </a:r>
          </a:p>
        </p:txBody>
      </p:sp>
      <p:pic>
        <p:nvPicPr>
          <p:cNvPr id="3" name="Picture 2" descr="0e2c3c3e-c2e5-4ce8-9d50-d7d82a593b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945166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t>Pergunta RAG</a:t>
            </a:r>
          </a:p>
        </p:txBody>
      </p:sp>
      <p:pic>
        <p:nvPicPr>
          <p:cNvPr id="3" name="Picture 2" descr="66800162-b05c-46a1-81de-8aed60bcf0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945166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t>Resposta com Fonte</a:t>
            </a:r>
          </a:p>
        </p:txBody>
      </p:sp>
      <p:pic>
        <p:nvPicPr>
          <p:cNvPr id="3" name="Picture 2" descr="41bf9f0f-c335-42df-9423-15f3349523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945166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t>Triagem Automatizada</a:t>
            </a:r>
          </a:p>
        </p:txBody>
      </p:sp>
      <p:pic>
        <p:nvPicPr>
          <p:cNvPr id="3" name="Picture 2" descr="1c7e8d50-4a04-484c-87b2-5380b67097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945166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t>Execução MCP</a:t>
            </a:r>
          </a:p>
        </p:txBody>
      </p:sp>
      <p:pic>
        <p:nvPicPr>
          <p:cNvPr id="3" name="Picture 2" descr="d90ebb58-6061-4e0e-bda3-a834341e9d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945166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Métricas RAGAS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Faithfulness alto</a:t>
            </a:r>
          </a:p>
          <a:p>
            <a:r>
              <a:t>Answer relevancy alto</a:t>
            </a:r>
          </a:p>
          <a:p>
            <a:r>
              <a:t>Context precision e recall eficientes</a:t>
            </a:r>
          </a:p>
          <a:p>
            <a:r>
              <a:t>Gemini como avaliador</a:t>
            </a:r>
          </a:p>
          <a:p>
            <a:r>
              <a:t>Latência &lt; 3s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Limitações e Próximos Passos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Corpus limitado</a:t>
            </a:r>
          </a:p>
          <a:p>
            <a:r>
              <a:t>Dependência de contexto</a:t>
            </a:r>
          </a:p>
          <a:p>
            <a:r>
              <a:t>Adicionar reranker</a:t>
            </a:r>
          </a:p>
          <a:p>
            <a:r>
              <a:t>Integrar APIs reais</a:t>
            </a:r>
          </a:p>
          <a:p>
            <a:r>
              <a:t>Adicionar multimodalidade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